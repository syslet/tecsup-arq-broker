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12192000" cy="6858000"/>
  <p:notesSz cx="6858000" cy="9144000"/>
  <p:embeddedFontLst>
    <p:embeddedFont>
      <p:font typeface="Poppins" panose="00000500000000000000" pitchFamily="2" charset="0"/>
      <p:regular r:id="rId14"/>
      <p:bold r:id="rId15"/>
      <p:italic r:id="rId16"/>
      <p:boldItalic r:id="rId17"/>
    </p:embeddedFont>
    <p:embeddedFont>
      <p:font typeface="Urbanist" panose="020B0604020202020204" charset="0"/>
      <p:regular r:id="rId18"/>
      <p:bold r:id="rId19"/>
      <p:italic r:id="rId20"/>
      <p:boldItalic r:id="rId21"/>
    </p:embeddedFont>
    <p:embeddedFont>
      <p:font typeface="Urbanist SemiBold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576E79-6BD3-4847-B098-FB6D1959E0F2}">
  <a:tblStyle styleId="{20576E79-6BD3-4847-B098-FB6D1959E0F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300537"/>
            <a:ext cx="11049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rPr>
              <a:t>Optimización de Flujos de Datos en Tiempo Real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2281237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Broker de </a:t>
            </a:r>
            <a:r>
              <a:rPr lang="en-US" sz="6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Mensajería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576637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Arquitectura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Distribuida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con Python, Flask y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SocketIO</a:t>
            </a:r>
            <a:endParaRPr dirty="0"/>
          </a:p>
        </p:txBody>
      </p:sp>
      <p:sp>
        <p:nvSpPr>
          <p:cNvPr id="2" name="Google Shape;88;p13">
            <a:extLst>
              <a:ext uri="{FF2B5EF4-FFF2-40B4-BE49-F238E27FC236}">
                <a16:creationId xmlns:a16="http://schemas.microsoft.com/office/drawing/2014/main" id="{87323537-CF84-DA49-D39C-4F74C7613C6F}"/>
              </a:ext>
            </a:extLst>
          </p:cNvPr>
          <p:cNvSpPr txBox="1"/>
          <p:nvPr/>
        </p:nvSpPr>
        <p:spPr>
          <a:xfrm>
            <a:off x="9848850" y="267340"/>
            <a:ext cx="20478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&gt; Rene Plaz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1971675"/>
            <a:ext cx="55245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INTRODUCCIÓN AL SISTEMA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081212"/>
            <a:ext cx="52387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 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Message Broker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actúa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como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un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intermediario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que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valida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enruta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entrega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mensajes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entre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aplicaciones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857250" y="3300412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Desacoplamiento:</a:t>
            </a: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Los emisores no necesitan conocer a los receptores.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3957637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Escalabilidad:</a:t>
            </a: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Permite manejar múltiples consumidores simultáneos.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57250" y="4614862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Tiempo Real:</a:t>
            </a: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SocketIO garantiza baja latencia mediante WebSockets.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57250" y="5272087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Estructura:</a:t>
            </a: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Basado en el patrón de suscripción por tópicos.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3300412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3957637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4614862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71500" y="5272087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1014ECA-181A-202A-0A7A-696199AE84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240" y="2907601"/>
            <a:ext cx="5336019" cy="22216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76487"/>
            <a:ext cx="34924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76487"/>
            <a:ext cx="3492549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376487"/>
            <a:ext cx="3492400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79575" y="280511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29151" y="2805112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36025" y="28051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ARQUITECTURA DE TRES PILARES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894241" y="3538537"/>
            <a:ext cx="28469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Servidor Broker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62025" y="3957637"/>
            <a:ext cx="27113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Centro neurálgico basado en Flask-SocketIO que gestiona la lógica de distribución y salas de tópicos.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672388" y="3538537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Productor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740175" y="3957637"/>
            <a:ext cx="27114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Cliente Python que genera datos y los envía al Broker mediante eventos asíncronos definidos.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450691" y="3538537"/>
            <a:ext cx="28469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Consumidor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518475" y="3957637"/>
            <a:ext cx="27113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Aplicaciones suscritas que procesan los mensajes, añadiendo metadatos como UUID y marcas de tiempo.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716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81200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EL SERVIDOR BROKER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571500" y="2714625"/>
            <a:ext cx="5238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Implementado con </a:t>
            </a:r>
            <a:r>
              <a:rPr lang="en-US" sz="13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Flask-SocketIO</a:t>
            </a: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el servidor gestiona la comunicación bidireccional permanente.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57250" y="3419475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Manejo de eventos personalizados como 'publish_message'.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57250" y="38290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Uso de broadcast=True para distribuir a todos los clientes.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57250" y="4238625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Soporte para múltiples tópicos mediante el concepto de 'Rooms'.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57250" y="4638675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Validación básica de payloads entrantes.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3419475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71500" y="3829050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71500" y="4238625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571500" y="4638675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00300"/>
            <a:ext cx="5381625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400300"/>
            <a:ext cx="5381625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4391025"/>
            <a:ext cx="46005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ROL DEL PRODUCTOR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962025" y="2790825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Emisión de Mensajes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962025" y="3209925"/>
            <a:ext cx="4600575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 productor utiliza la librería socketio.Client para conectarse al servidor. Su única responsabilidad es empaquetar el mensaje y enviarlo con una etiqueta de tópico específica.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629400" y="2790825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Características Clave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915150" y="3209925"/>
            <a:ext cx="43148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Conexión ligera y asíncrona.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915150" y="3609975"/>
            <a:ext cx="43148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Capacidad de reconexión automática.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915150" y="4010025"/>
            <a:ext cx="43148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Payloads en formato JSON.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915150" y="4410075"/>
            <a:ext cx="43148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Bajo consumo de recursos.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629400" y="3209925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629400" y="3609975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629400" y="4010025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629400" y="4410075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28050"/>
            <a:ext cx="6679692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EL CONSUMIDOR INTELIGENTE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7524750" y="2144744"/>
            <a:ext cx="408432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Cada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consumidor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se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suscribe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uno o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varios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tópicos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espera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la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llegada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datos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forma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reactiva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80" name="Google Shape;180;p18"/>
          <p:cNvSpPr txBox="1"/>
          <p:nvPr/>
        </p:nvSpPr>
        <p:spPr>
          <a:xfrm>
            <a:off x="7810500" y="2849594"/>
            <a:ext cx="3925062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Escucha</a:t>
            </a:r>
            <a:r>
              <a:rPr lang="en-US" sz="135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Activa: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Reacciona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instantáneamente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al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evento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llegada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81" name="Google Shape;181;p18"/>
          <p:cNvSpPr txBox="1"/>
          <p:nvPr/>
        </p:nvSpPr>
        <p:spPr>
          <a:xfrm>
            <a:off x="7810500" y="3506819"/>
            <a:ext cx="407289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Procesamiento</a:t>
            </a:r>
            <a:r>
              <a:rPr lang="en-US" sz="135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Local: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Imprime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consola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el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contenido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enriquecido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82" name="Google Shape;182;p18"/>
          <p:cNvSpPr txBox="1"/>
          <p:nvPr/>
        </p:nvSpPr>
        <p:spPr>
          <a:xfrm>
            <a:off x="7810500" y="4164044"/>
            <a:ext cx="4173474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Identificación</a:t>
            </a:r>
            <a:r>
              <a:rPr lang="en-US" sz="135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Genera un UUID corto para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cada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instancia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mensaje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procesada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83" name="Google Shape;183;p18"/>
          <p:cNvSpPr txBox="1"/>
          <p:nvPr/>
        </p:nvSpPr>
        <p:spPr>
          <a:xfrm>
            <a:off x="7810500" y="4821269"/>
            <a:ext cx="4279392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Trazabilidad</a:t>
            </a:r>
            <a:r>
              <a:rPr lang="en-US" sz="135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Adjunta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un timestamp de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precisión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milimétrica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84" name="Google Shape;184;p18"/>
          <p:cNvSpPr txBox="1"/>
          <p:nvPr/>
        </p:nvSpPr>
        <p:spPr>
          <a:xfrm>
            <a:off x="7524750" y="2849594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7524750" y="3506819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7524750" y="4164044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7524750" y="4821269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03419D2-AB89-FC7F-62EF-7C8742DD50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992" y="2466212"/>
            <a:ext cx="6410325" cy="2381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571500" y="3876675"/>
            <a:ext cx="11049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FLUJO DEL MENSAJE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1691580" y="37814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4564260" y="37814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7436941" y="37814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10309621" y="37814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510733" y="2762250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Producción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71500" y="3076575"/>
            <a:ext cx="24306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Productor emite mensaje al tópico X.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3383413" y="4162425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Ingesta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3444180" y="4476750"/>
            <a:ext cx="24306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Broker recibe y valida el evento SocketIO.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256094" y="2762250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Distribución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316860" y="3076575"/>
            <a:ext cx="24306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Broker hace broadcast a suscriptores del tópico.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9128774" y="4162425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Consumo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9189541" y="4476750"/>
            <a:ext cx="24306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Consumidor recibe, añade UUID y loguea.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571500" y="3238500"/>
            <a:ext cx="2857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UUID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571500" y="42862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Identificador Único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LÓGICA DE IDENTIFICACIÓN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3810000" y="2857500"/>
            <a:ext cx="7810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Para garantizar que cada mensaje procesado por un consumidor sea rastreable, implementamos: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4095750" y="3676650"/>
            <a:ext cx="75247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UUID Corto:</a:t>
            </a: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Generado mediante uuid.uuid4().hex[:8] para legibilidad en consola.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4095750" y="4086225"/>
            <a:ext cx="75247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Timestamp ISO:</a:t>
            </a: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Marca de tiempo exacta usando datetime.now().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4095750" y="4495800"/>
            <a:ext cx="7524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Integridad:</a:t>
            </a: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Permite correlacionar logs entre múltiples instancias de consumidores distribuidos.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3810000" y="3676650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3810000" y="4086225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3810000" y="4495800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2" name="Google Shape;242;p22"/>
          <p:cNvGraphicFramePr/>
          <p:nvPr>
            <p:extLst>
              <p:ext uri="{D42A27DB-BD31-4B8C-83A1-F6EECF244321}">
                <p14:modId xmlns:p14="http://schemas.microsoft.com/office/powerpoint/2010/main" val="2950709407"/>
              </p:ext>
            </p:extLst>
          </p:nvPr>
        </p:nvGraphicFramePr>
        <p:xfrm>
          <a:off x="571500" y="2543175"/>
          <a:ext cx="11049000" cy="2857500"/>
        </p:xfrm>
        <a:graphic>
          <a:graphicData uri="http://schemas.openxmlformats.org/drawingml/2006/table">
            <a:tbl>
              <a:tblPr firstRow="1" bandRow="1">
                <a:noFill/>
                <a:tableStyleId>{20576E79-6BD3-4847-B098-FB6D1959E0F2}</a:tableStyleId>
              </a:tblPr>
              <a:tblGrid>
                <a:gridCol w="327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Función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Acción Técnica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Resultado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sio.on('msg')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Callback reactivo por evento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Activación inmediata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uuid4().hex[:8]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Generación de ID único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Ej: "4f2a1b9c"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datetime.now()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Captura de tiempo actual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Ej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: 2023-10-27 14:00:01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print()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Salida estándar formateada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Log visible </a:t>
                      </a: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consola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3" name="Google Shape;243;p22"/>
          <p:cNvSpPr/>
          <p:nvPr/>
        </p:nvSpPr>
        <p:spPr>
          <a:xfrm>
            <a:off x="571500" y="3700462"/>
            <a:ext cx="32776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3849141" y="3700462"/>
            <a:ext cx="42667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8115895" y="3700462"/>
            <a:ext cx="350460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571500" y="4262437"/>
            <a:ext cx="32776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3849141" y="4262437"/>
            <a:ext cx="42667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8115895" y="4262437"/>
            <a:ext cx="350460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571500" y="4824412"/>
            <a:ext cx="32776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3849141" y="4824412"/>
            <a:ext cx="42667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8115895" y="4824412"/>
            <a:ext cx="350460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71500" y="5386387"/>
            <a:ext cx="32776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3849141" y="5386387"/>
            <a:ext cx="42667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8115895" y="5386387"/>
            <a:ext cx="350460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LÓGICA DEL CONSUMIDOR</a:t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571500" y="571500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APLICABILIDAD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571500" y="2724150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Esta arquitectura es ideal para sistemas que requieren alta reactividad: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857250" y="3429000"/>
            <a:ext cx="4667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Monitoreo IoT:</a:t>
            </a: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Sensores enviando datos de telemetría.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857250" y="3829050"/>
            <a:ext cx="4667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Sistemas de Alerta:</a:t>
            </a: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Notificaciones críticas inmediatas.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857250" y="4229100"/>
            <a:ext cx="4667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Chats Empresariales:</a:t>
            </a: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Comunicación grupal masiva.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857250" y="4629150"/>
            <a:ext cx="4667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Logs Distribuidos:</a:t>
            </a: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Centralización de logs de microservicios.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571500" y="3429000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571500" y="3829050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571500" y="4229100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571500" y="4629150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00512"/>
            <a:ext cx="1104900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 txBox="1"/>
          <p:nvPr/>
        </p:nvSpPr>
        <p:spPr>
          <a:xfrm>
            <a:off x="295275" y="2062162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Demo</a:t>
            </a:r>
            <a:endParaRPr dirty="0"/>
          </a:p>
        </p:txBody>
      </p:sp>
      <p:sp>
        <p:nvSpPr>
          <p:cNvPr id="282" name="Google Shape;282;p24"/>
          <p:cNvSpPr txBox="1"/>
          <p:nvPr/>
        </p:nvSpPr>
        <p:spPr>
          <a:xfrm>
            <a:off x="571500" y="2938462"/>
            <a:ext cx="1104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 implementación de brokers con SocketIO ofrece una base robusta y moderna para aplicaciones de tiempo real.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771525" y="4300537"/>
            <a:ext cx="10648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Ecosistema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: Python 3.10+ | Flask 2.2+ | </a:t>
            </a:r>
            <a:r>
              <a:rPr lang="en-US" sz="135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SocketIO</a:t>
            </a:r>
            <a:r>
              <a:rPr lang="en-US" sz="135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5.0+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565</Words>
  <Application>Microsoft Office PowerPoint</Application>
  <PresentationFormat>Panorámica</PresentationFormat>
  <Paragraphs>101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Urbanist SemiBold</vt:lpstr>
      <vt:lpstr>Arial</vt:lpstr>
      <vt:lpstr>Calibri</vt:lpstr>
      <vt:lpstr>Poppins</vt:lpstr>
      <vt:lpstr>Urbanist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Rene Plaz</cp:lastModifiedBy>
  <cp:revision>3</cp:revision>
  <dcterms:modified xsi:type="dcterms:W3CDTF">2026-07-03T22:02:30Z</dcterms:modified>
</cp:coreProperties>
</file>